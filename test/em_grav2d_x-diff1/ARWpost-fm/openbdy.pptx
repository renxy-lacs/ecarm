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99" r:id="rId4"/>
    <p:sldId id="270" r:id="rId5"/>
    <p:sldId id="271" r:id="rId6"/>
    <p:sldId id="280" r:id="rId7"/>
    <p:sldId id="289" r:id="rId8"/>
    <p:sldId id="290" r:id="rId9"/>
    <p:sldId id="300" r:id="rId10"/>
    <p:sldId id="262" r:id="rId11"/>
    <p:sldId id="259" r:id="rId12"/>
    <p:sldId id="258" r:id="rId13"/>
    <p:sldId id="260" r:id="rId14"/>
    <p:sldId id="257" r:id="rId15"/>
    <p:sldId id="263" r:id="rId16"/>
    <p:sldId id="264" r:id="rId17"/>
    <p:sldId id="261" r:id="rId18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5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.jpeg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jpeg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2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tags" Target="../tags/tag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cb=50,</a:t>
            </a:r>
            <a:r>
              <a:rPr lang="zh-CN" altLang="zh-CN"/>
              <a:t>能计算</a:t>
            </a:r>
            <a:r>
              <a:rPr lang="en-US" altLang="zh-CN"/>
              <a:t>8</a:t>
            </a:r>
            <a:r>
              <a:rPr lang="zh-CN" altLang="en-US"/>
              <a:t>小时</a:t>
            </a:r>
            <a:r>
              <a:rPr lang="en-US" altLang="zh-CN"/>
              <a:t>40</a:t>
            </a:r>
            <a:r>
              <a:rPr lang="zh-CN" altLang="en-US"/>
              <a:t>分</a:t>
            </a:r>
            <a:endParaRPr lang="zh-CN" altLang="en-US"/>
          </a:p>
          <a:p>
            <a:r>
              <a:rPr lang="en-US" altLang="zh-CN"/>
              <a:t>cb=30</a:t>
            </a:r>
            <a:r>
              <a:rPr lang="zh-CN" altLang="en-US"/>
              <a:t>？</a:t>
            </a:r>
            <a:r>
              <a:rPr lang="zh-CN" altLang="en-US">
                <a:sym typeface="+mn-ea"/>
              </a:rPr>
              <a:t>边界乱</a:t>
            </a:r>
            <a:endParaRPr lang="zh-CN" altLang="en-US"/>
          </a:p>
          <a:p>
            <a:r>
              <a:rPr lang="en-US" altLang="zh-CN"/>
              <a:t>cb=25 </a:t>
            </a:r>
            <a:r>
              <a:rPr lang="zh-CN" altLang="en-US"/>
              <a:t>，边界乱。</a:t>
            </a:r>
            <a:endParaRPr lang="zh-CN" altLang="en-US"/>
          </a:p>
          <a:p>
            <a:r>
              <a:rPr lang="en-US" altLang="zh-CN"/>
              <a:t>cb=20?</a:t>
            </a:r>
            <a:endParaRPr lang="en-US" altLang="zh-CN"/>
          </a:p>
          <a:p>
            <a:r>
              <a:rPr lang="en-US" altLang="zh-CN"/>
              <a:t>cb=15?</a:t>
            </a:r>
            <a:endParaRPr lang="zh-CN" altLang="en-US"/>
          </a:p>
          <a:p>
            <a:r>
              <a:rPr lang="en-US" altLang="zh-CN"/>
              <a:t>cb=10</a:t>
            </a:r>
            <a:r>
              <a:rPr lang="zh-CN" altLang="en-US"/>
              <a:t>，边界较好，近似</a:t>
            </a:r>
            <a:r>
              <a:rPr lang="en-US" altLang="zh-CN"/>
              <a:t>cb=0.</a:t>
            </a:r>
            <a:endParaRPr lang="en-US" altLang="zh-CN"/>
          </a:p>
          <a:p>
            <a:r>
              <a:rPr lang="en-US" altLang="zh-CN"/>
              <a:t>cb=0</a:t>
            </a:r>
            <a:r>
              <a:rPr lang="zh-CN" altLang="en-US"/>
              <a:t>，</a:t>
            </a:r>
            <a:r>
              <a:rPr lang="en-US" altLang="zh-CN"/>
              <a:t> </a:t>
            </a:r>
            <a:r>
              <a:rPr lang="zh-CN" altLang="en-US"/>
              <a:t>边界较好。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10" name="内容占位符 9" descr="hill_21600s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172200" y="1999615"/>
            <a:ext cx="5181600" cy="4002405"/>
          </a:xfrm>
          <a:prstGeom prst="rect">
            <a:avLst/>
          </a:prstGeom>
        </p:spPr>
      </p:pic>
      <p:pic>
        <p:nvPicPr>
          <p:cNvPr id="11" name="内容占位符 10" descr="hill_21600s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999615"/>
            <a:ext cx="5181600" cy="40024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内容占位符 4" descr="hill_25200s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838200" y="1999615"/>
            <a:ext cx="5181600" cy="4002405"/>
          </a:xfrm>
          <a:prstGeom prst="rect">
            <a:avLst/>
          </a:prstGeom>
        </p:spPr>
      </p:pic>
      <p:pic>
        <p:nvPicPr>
          <p:cNvPr id="6" name="内容占位符 5" descr="hill_36000s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999615"/>
            <a:ext cx="5181600" cy="40024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cb=0                                               cb=25</a:t>
            </a:r>
            <a:endParaRPr lang="en-US" altLang="zh-CN"/>
          </a:p>
        </p:txBody>
      </p:sp>
      <p:pic>
        <p:nvPicPr>
          <p:cNvPr id="5" name="内容占位符 4" descr="hill_21600s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838200" y="1999615"/>
            <a:ext cx="5181600" cy="4002405"/>
          </a:xfrm>
          <a:prstGeom prst="rect">
            <a:avLst/>
          </a:prstGeom>
        </p:spPr>
      </p:pic>
      <p:pic>
        <p:nvPicPr>
          <p:cNvPr id="10" name="内容占位符 9" descr="hill_21600s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999615"/>
            <a:ext cx="5181600" cy="40024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cb=10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 descr="hill_21600s-cb5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5943600" cy="45916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内容占位符 4" descr="hill_21600s-fixwest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838200" y="1999615"/>
            <a:ext cx="5181600" cy="4002405"/>
          </a:xfrm>
          <a:prstGeom prst="rect">
            <a:avLst/>
          </a:prstGeom>
        </p:spPr>
      </p:pic>
      <p:pic>
        <p:nvPicPr>
          <p:cNvPr id="6" name="图片 5" descr="hill_21600s-cb5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"/>
          <a:stretch>
            <a:fillRect/>
          </a:stretch>
        </p:blipFill>
        <p:spPr>
          <a:xfrm>
            <a:off x="6248400" y="1825625"/>
            <a:ext cx="5943600" cy="45916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cb=15</a:t>
            </a:r>
            <a:endParaRPr lang="en-US" altLang="zh-CN"/>
          </a:p>
        </p:txBody>
      </p:sp>
      <p:pic>
        <p:nvPicPr>
          <p:cNvPr id="5" name="内容占位符 4" descr="hill_21600s-cb15"/>
          <p:cNvPicPr>
            <a:picLocks noChangeAspect="1"/>
          </p:cNvPicPr>
          <p:nvPr>
            <p:ph sz="half"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38200" y="1999615"/>
            <a:ext cx="5181600" cy="4002405"/>
          </a:xfrm>
          <a:prstGeom prst="rect">
            <a:avLst/>
          </a:prstGeom>
        </p:spPr>
      </p:pic>
      <p:pic>
        <p:nvPicPr>
          <p:cNvPr id="6" name="内容占位符 5" descr="hill_32400s-cb15"/>
          <p:cNvPicPr>
            <a:picLocks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999615"/>
            <a:ext cx="5181600" cy="40024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对于给定边界条件，边界的处理。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horizontal_order_test</a:t>
            </a:r>
            <a:r>
              <a:rPr lang="en-US" altLang="zh-CN"/>
              <a:t> </a:t>
            </a:r>
            <a:r>
              <a:rPr lang="zh-CN" altLang="en-US"/>
              <a:t>，</a:t>
            </a:r>
            <a:r>
              <a:rPr lang="en-US" altLang="zh-CN"/>
              <a:t>1240</a:t>
            </a:r>
            <a:r>
              <a:rPr lang="zh-CN" altLang="en-US"/>
              <a:t>行之前。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D:\fm\wrfdymem-f90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module_advect_em.f90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zh-CN"/>
              <a:t>相关子程序</a:t>
            </a:r>
            <a:endParaRPr lang="zh-CN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advect_u（</a:t>
            </a:r>
            <a:r>
              <a:rPr lang="en-US" altLang="zh-CN"/>
              <a:t>1526</a:t>
            </a:r>
            <a:r>
              <a:rPr lang="zh-CN" altLang="en-US"/>
              <a:t>行以前）</a:t>
            </a:r>
            <a:endParaRPr lang="zh-CN" altLang="en-US"/>
          </a:p>
          <a:p>
            <a:r>
              <a:rPr lang="zh-CN" altLang="en-US"/>
              <a:t>advect_weno_u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advect_u</a:t>
            </a:r>
            <a:r>
              <a:rPr lang="en-US" altLang="zh-CN">
                <a:sym typeface="+mn-ea"/>
              </a:rPr>
              <a:t>    line to1526</a:t>
            </a:r>
            <a:endParaRPr lang="en-US" altLang="zh-CN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module_advect_em.f90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 fontScale="40000"/>
          </a:bodyPr>
          <a:p>
            <a:r>
              <a:rPr lang="zh-CN" altLang="en-US"/>
              <a:t>!  radiative lateral boundary condition in x for normal velocity (u)</a:t>
            </a:r>
            <a:endParaRPr lang="zh-CN" altLang="en-US"/>
          </a:p>
          <a:p>
            <a:r>
              <a:rPr lang="zh-CN" altLang="en-US"/>
              <a:t>      IF ( (config_flags%open_xs) .and. its == ids ) THEN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      j_start = jts</a:t>
            </a:r>
            <a:endParaRPr lang="zh-CN" altLang="en-US"/>
          </a:p>
          <a:p>
            <a:r>
              <a:rPr lang="zh-CN" altLang="en-US"/>
              <a:t>        j_end   = MIN(jte,jde-1)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      DO j = j_start, j_end</a:t>
            </a:r>
            <a:endParaRPr lang="zh-CN" altLang="en-US"/>
          </a:p>
          <a:p>
            <a:r>
              <a:rPr lang="zh-CN" altLang="en-US"/>
              <a:t>        DO k = kts, ktf</a:t>
            </a:r>
            <a:endParaRPr lang="zh-CN" altLang="en-US"/>
          </a:p>
          <a:p>
            <a:r>
              <a:rPr lang="zh-CN" altLang="en-US"/>
              <a:t>          ub = MIN(ru(its,k,j)-cb*(c1(k)*mut(its,j)+c2(k)), 0.)</a:t>
            </a:r>
            <a:endParaRPr lang="zh-CN" altLang="en-US"/>
          </a:p>
          <a:p>
            <a:r>
              <a:rPr lang="zh-CN" altLang="en-US"/>
              <a:t>          tendency(its,k,j) = tendency(its,k,j)                    &amp;</a:t>
            </a:r>
            <a:endParaRPr lang="zh-CN" altLang="en-US"/>
          </a:p>
          <a:p>
            <a:r>
              <a:rPr lang="zh-CN" altLang="en-US"/>
              <a:t>                      - rdx*ub*(u_old(its+1,k,j) - u_old(its,k,j))</a:t>
            </a:r>
            <a:endParaRPr lang="zh-CN" altLang="en-US"/>
          </a:p>
          <a:p>
            <a:r>
              <a:rPr lang="zh-CN" altLang="en-US"/>
              <a:t>        ENDDO</a:t>
            </a:r>
            <a:endParaRPr lang="zh-CN" altLang="en-US"/>
          </a:p>
          <a:p>
            <a:r>
              <a:rPr lang="zh-CN" altLang="en-US"/>
              <a:t>        ENDDO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    ENDIF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93470" y="1825625"/>
            <a:ext cx="1000442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878965"/>
            <a:ext cx="10515600" cy="42443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433</a:t>
            </a:r>
            <a:r>
              <a:rPr lang="zh-CN" altLang="en-US"/>
              <a:t>行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zh-CN" altLang="en-US"/>
              <a:t>          IF( i_start == ids+1 ) THEN ! second order flux next to the boundary</a:t>
            </a:r>
            <a:endParaRPr lang="zh-CN" altLang="en-US"/>
          </a:p>
          <a:p>
            <a:r>
              <a:rPr lang="zh-CN" altLang="en-US"/>
              <a:t>            i = ids+1</a:t>
            </a:r>
            <a:endParaRPr lang="zh-CN" altLang="en-US"/>
          </a:p>
          <a:p>
            <a:r>
              <a:rPr lang="zh-CN" altLang="en-US"/>
              <a:t>            DO k=kts,ktf</a:t>
            </a:r>
            <a:endParaRPr lang="zh-CN" altLang="en-US"/>
          </a:p>
          <a:p>
            <a:r>
              <a:rPr lang="zh-CN" altLang="en-US"/>
              <a:t>              ub = u(i-1,k,j)</a:t>
            </a:r>
            <a:endParaRPr lang="zh-CN" altLang="en-US"/>
          </a:p>
          <a:p>
            <a:r>
              <a:rPr lang="zh-CN" altLang="en-US"/>
              <a:t>              IF (specified .AND. u(i,k,j) .LT. 0.)ub = u(i,k,j)</a:t>
            </a:r>
            <a:endParaRPr lang="zh-CN" altLang="en-US"/>
          </a:p>
          <a:p>
            <a:r>
              <a:rPr lang="zh-CN" altLang="en-US"/>
              <a:t>              fqx(i, k) = 0.25*(ru(i,k,j)+ru(i-1,k,j)) &amp;</a:t>
            </a:r>
            <a:endParaRPr lang="zh-CN" altLang="en-US"/>
          </a:p>
          <a:p>
            <a:r>
              <a:rPr lang="zh-CN" altLang="en-US"/>
              <a:t>                     *(u(i,k,j)+ub)</a:t>
            </a:r>
            <a:endParaRPr lang="zh-CN" altLang="en-US"/>
          </a:p>
          <a:p>
            <a:r>
              <a:rPr lang="zh-CN" altLang="en-US"/>
              <a:t>            ENDDO</a:t>
            </a:r>
            <a:endParaRPr lang="zh-CN" altLang="en-US"/>
          </a:p>
          <a:p>
            <a:r>
              <a:rPr lang="zh-CN" altLang="en-US"/>
              <a:t>          END IF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9270,&quot;width&quot;:12000}"/>
</p:tagLst>
</file>

<file path=ppt/tags/tag2.xml><?xml version="1.0" encoding="utf-8"?>
<p:tagLst xmlns:p="http://schemas.openxmlformats.org/presentationml/2006/main">
  <p:tag name="KSO_WM_UNIT_PLACING_PICTURE_USER_VIEWPORT" val="{&quot;height&quot;:9270,&quot;width&quot;:12000}"/>
</p:tagLst>
</file>

<file path=ppt/tags/tag3.xml><?xml version="1.0" encoding="utf-8"?>
<p:tagLst xmlns:p="http://schemas.openxmlformats.org/presentationml/2006/main">
  <p:tag name="KSO_WM_UNIT_PLACING_PICTURE_USER_VIEWPORT" val="{&quot;height&quot;:6303,&quot;width&quot;:8160}"/>
</p:tagLst>
</file>

<file path=ppt/tags/tag4.xml><?xml version="1.0" encoding="utf-8"?>
<p:tagLst xmlns:p="http://schemas.openxmlformats.org/presentationml/2006/main">
  <p:tag name="KSO_WM_UNIT_PLACING_PICTURE_USER_VIEWPORT" val="{&quot;height&quot;:6853,&quot;width&quot;:15755}"/>
</p:tagLst>
</file>

<file path=ppt/tags/tag5.xml><?xml version="1.0" encoding="utf-8"?>
<p:tagLst xmlns:p="http://schemas.openxmlformats.org/presentationml/2006/main">
  <p:tag name="COMMONDATA" val="eyJoZGlkIjoiOWM1MTBmN2NkNDBjYzQ5MGZiYThhOTExNmE3NDE4Y2UifQ=="/>
  <p:tag name="KSO_WPP_MARK_KEY" val="5b10eda3-5335-478b-ac20-089e0aa64c89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1112</Words>
  <Application>WPS 演示</Application>
  <PresentationFormat>宽屏</PresentationFormat>
  <Paragraphs>61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Arial</vt:lpstr>
      <vt:lpstr>宋体</vt:lpstr>
      <vt:lpstr>Wingdings</vt:lpstr>
      <vt:lpstr>Calibri</vt:lpstr>
      <vt:lpstr>微软雅黑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cb=0                                               cb=25</vt:lpstr>
      <vt:lpstr>cb=10</vt:lpstr>
      <vt:lpstr>PowerPoint 演示文稿</vt:lpstr>
      <vt:lpstr>PowerPoint 演示文稿</vt:lpstr>
      <vt:lpstr>对于给定边界条件，边界的处理。</vt:lpstr>
      <vt:lpstr>D:\fm\wrfdymem-f90</vt:lpstr>
      <vt:lpstr>相关子程序</vt:lpstr>
      <vt:lpstr>advect_u    line to1526</vt:lpstr>
      <vt:lpstr>module_advect_em.f90</vt:lpstr>
      <vt:lpstr>PowerPoint 演示文稿</vt:lpstr>
      <vt:lpstr>PowerPoint 演示文稿</vt:lpstr>
      <vt:lpstr>433行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Administrator</cp:lastModifiedBy>
  <cp:revision>13</cp:revision>
  <dcterms:created xsi:type="dcterms:W3CDTF">2022-11-18T23:18:00Z</dcterms:created>
  <dcterms:modified xsi:type="dcterms:W3CDTF">2022-11-29T16:14:17Z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B4802F80726145CA947EEC3E1BAD6CAF</vt:lpwstr>
  </property>
  <property fmtid="{D5CDD505-2E9C-101B-9397-08002B2CF9AE}" pid="3" name="KSOProductBuildVer">
    <vt:lpwstr>2052-11.1.0.12763</vt:lpwstr>
  </property>
</Properties>
</file>